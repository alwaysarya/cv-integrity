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9/10/2026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9/10/2026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9/10/2026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9/10/2026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9/10/2026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9/10/2026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9/10/2026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9/10/2026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9/10/2026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9/10/2026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9/10/2026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9/10/2026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9/10/2026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7020534" y="1857569"/>
            <a:ext cx="3203509" cy="3426237"/>
          </a:xfrm>
          <a:prstGeom prst="rect">
            <a:avLst/>
          </a:prstGeom>
        </p:spPr>
      </p:pic>
      <p:sp>
        <p:nvSpPr>
          <p:cNvPr id="4" name="Subtitle 3"/>
          <p:cNvSpPr>
            <a:spLocks noGrp="1"/>
          </p:cNvSpPr>
          <p:nvPr>
            <p:ph type="subTitle" idx="1"/>
          </p:nvPr>
        </p:nvSpPr>
        <p:spPr>
          <a:xfrm>
            <a:off x="1245686" y="323850"/>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57772" y="1429563"/>
            <a:ext cx="6316633" cy="5428730"/>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400" b="1" dirty="0">
                <a:latin typeface="Algerian" panose="04020705040A02060702" pitchFamily="82" charset="0"/>
                <a:cs typeface="Arial" panose="020B0604020202020204" pitchFamily="34" charset="0"/>
              </a:rPr>
              <a:t>Problem Statement ID </a:t>
            </a:r>
            <a:r>
              <a:rPr lang="en-US" sz="2400" b="1" dirty="0">
                <a:latin typeface="Arial" panose="020B0604020202020204" pitchFamily="34" charset="0"/>
                <a:cs typeface="Arial" panose="020B0604020202020204" pitchFamily="34" charset="0"/>
              </a:rPr>
              <a:t>– 26228</a:t>
            </a:r>
          </a:p>
          <a:p>
            <a:pPr marL="285750" indent="-285750" algn="just">
              <a:lnSpc>
                <a:spcPct val="100000"/>
              </a:lnSpc>
              <a:buFont typeface="Arial" panose="020B0604020202020204" pitchFamily="34" charset="0"/>
              <a:buChar char="•"/>
            </a:pPr>
            <a:r>
              <a:rPr lang="en-US" sz="2400" b="1" dirty="0">
                <a:latin typeface="Algerian" panose="04020705040A02060702" pitchFamily="82" charset="0"/>
                <a:cs typeface="Arial" panose="020B0604020202020204" pitchFamily="34" charset="0"/>
              </a:rPr>
              <a:t>Problem Statement Title</a:t>
            </a:r>
            <a:r>
              <a:rPr lang="en-US" sz="2400" b="1" dirty="0">
                <a:latin typeface="Arial" panose="020B0604020202020204" pitchFamily="34" charset="0"/>
                <a:cs typeface="Arial" panose="020B0604020202020204" pitchFamily="34" charset="0"/>
              </a:rPr>
              <a:t>- </a:t>
            </a:r>
            <a:r>
              <a:rPr lang="en-IN" sz="2400" b="1" dirty="0">
                <a:latin typeface="Times New Roman" panose="02020603050405020304" pitchFamily="18" charset="0"/>
                <a:cs typeface="Times New Roman" panose="02020603050405020304" pitchFamily="18" charset="0"/>
              </a:rPr>
              <a:t>Trustworthy Computer Vision Integrity Assurance for Data, Models and Inference Outputs in Multi-Contributor Pipelines</a:t>
            </a:r>
          </a:p>
          <a:p>
            <a:pPr marL="285750" indent="-285750" algn="just">
              <a:lnSpc>
                <a:spcPct val="100000"/>
              </a:lnSpc>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sz="2400" b="1" dirty="0">
                <a:latin typeface="Algerian" panose="04020705040A02060702" pitchFamily="82" charset="0"/>
                <a:cs typeface="Arial" panose="020B0604020202020204" pitchFamily="34" charset="0"/>
              </a:rPr>
              <a:t>Theme -</a:t>
            </a:r>
            <a:r>
              <a:rPr lang="en-US" sz="2400" b="1" dirty="0">
                <a:latin typeface="Arial" panose="020B0604020202020204" pitchFamily="34" charset="0"/>
                <a:cs typeface="Arial" panose="020B0604020202020204" pitchFamily="34" charset="0"/>
              </a:rPr>
              <a:t> </a:t>
            </a:r>
            <a:r>
              <a:rPr lang="en-IN" sz="2400" b="1" dirty="0">
                <a:latin typeface="Times New Roman" panose="02020603050405020304" pitchFamily="18" charset="0"/>
                <a:cs typeface="Times New Roman" panose="02020603050405020304" pitchFamily="18" charset="0"/>
              </a:rPr>
              <a:t>Blockchain &amp; Cybersecurity</a:t>
            </a:r>
            <a:endParaRPr lang="en-US" sz="2400" b="1" dirty="0">
              <a:latin typeface="Times New Roman" panose="02020603050405020304" pitchFamily="18" charset="0"/>
              <a:cs typeface="Times New Roman" panose="02020603050405020304" pitchFamily="18" charset="0"/>
            </a:endParaRPr>
          </a:p>
          <a:p>
            <a:pPr marL="285750" indent="-285750" algn="just">
              <a:lnSpc>
                <a:spcPct val="200000"/>
              </a:lnSpc>
              <a:buFont typeface="Arial" panose="020B0604020202020204" pitchFamily="34" charset="0"/>
              <a:buChar char="•"/>
            </a:pPr>
            <a:r>
              <a:rPr lang="en-US" sz="2400" b="1" dirty="0">
                <a:latin typeface="Algerian" panose="04020705040A02060702" pitchFamily="82" charset="0"/>
                <a:cs typeface="Arial" panose="020B0604020202020204" pitchFamily="34" charset="0"/>
              </a:rPr>
              <a:t>PS Category</a:t>
            </a:r>
            <a:r>
              <a:rPr lang="en-US" sz="2400" b="1" dirty="0">
                <a:latin typeface="Arial" panose="020B0604020202020204" pitchFamily="34" charset="0"/>
                <a:cs typeface="Arial" panose="020B0604020202020204" pitchFamily="34" charset="0"/>
              </a:rPr>
              <a:t>- </a:t>
            </a:r>
            <a:r>
              <a:rPr lang="en-US" sz="2400" dirty="0">
                <a:latin typeface="Algerian" panose="04020705040A02060702" pitchFamily="82" charset="0"/>
                <a:cs typeface="Arial" panose="020B0604020202020204" pitchFamily="34" charset="0"/>
              </a:rPr>
              <a:t>Software</a:t>
            </a:r>
          </a:p>
          <a:p>
            <a:pPr marL="285750" indent="-285750" algn="just">
              <a:lnSpc>
                <a:spcPct val="200000"/>
              </a:lnSpc>
              <a:buFont typeface="Arial" panose="020B0604020202020204" pitchFamily="34" charset="0"/>
              <a:buChar char="•"/>
            </a:pPr>
            <a:r>
              <a:rPr lang="en-US" sz="2400" b="1" dirty="0">
                <a:latin typeface="Algerian" panose="04020705040A02060702" pitchFamily="82" charset="0"/>
                <a:cs typeface="Arial" panose="020B0604020202020204" pitchFamily="34" charset="0"/>
              </a:rPr>
              <a:t>Team ID </a:t>
            </a:r>
            <a:r>
              <a:rPr lang="en-US" sz="2400" b="1" dirty="0">
                <a:latin typeface="Arial" panose="020B0604020202020204" pitchFamily="34" charset="0"/>
                <a:cs typeface="Arial" panose="020B0604020202020204" pitchFamily="34" charset="0"/>
              </a:rPr>
              <a:t>– </a:t>
            </a:r>
            <a:r>
              <a:rPr lang="en-US" sz="2400" dirty="0">
                <a:latin typeface="Algerian" panose="04020705040A02060702" pitchFamily="82" charset="0"/>
                <a:cs typeface="Arial" panose="020B0604020202020204" pitchFamily="34" charset="0"/>
              </a:rPr>
              <a:t>SNPSU0279</a:t>
            </a:r>
          </a:p>
          <a:p>
            <a:pPr marL="285750" indent="-285750" algn="just">
              <a:lnSpc>
                <a:spcPct val="200000"/>
              </a:lnSpc>
              <a:buFont typeface="Arial" panose="020B0604020202020204" pitchFamily="34" charset="0"/>
              <a:buChar char="•"/>
            </a:pPr>
            <a:r>
              <a:rPr lang="en-US" sz="2400" b="1" dirty="0">
                <a:latin typeface="Algerian" panose="04020705040A02060702" pitchFamily="82" charset="0"/>
                <a:cs typeface="Arial" panose="020B0604020202020204" pitchFamily="34" charset="0"/>
              </a:rPr>
              <a:t>Team Name </a:t>
            </a:r>
            <a:r>
              <a:rPr lang="en-US" sz="2400" b="1" dirty="0">
                <a:latin typeface="Arial" panose="020B0604020202020204" pitchFamily="34" charset="0"/>
                <a:cs typeface="Arial" panose="020B0604020202020204" pitchFamily="34" charset="0"/>
              </a:rPr>
              <a:t>- </a:t>
            </a:r>
            <a:r>
              <a:rPr lang="en-US" sz="2400" dirty="0">
                <a:latin typeface="Algerian" panose="04020705040A02060702" pitchFamily="82" charset="0"/>
                <a:cs typeface="Arial" panose="020B0604020202020204" pitchFamily="34" charset="0"/>
              </a:rPr>
              <a:t>WHOCODES</a:t>
            </a:r>
            <a:endParaRPr lang="en-IN" sz="2400" dirty="0">
              <a:latin typeface="Algerian" panose="04020705040A02060702" pitchFamily="82"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507067" y="440267"/>
            <a:ext cx="8500534" cy="1655365"/>
          </a:xfrm>
        </p:spPr>
        <p:txBody>
          <a:bodyPr/>
          <a:lstStyle/>
          <a:p>
            <a:pPr eaLnBrk="1" hangingPunct="1"/>
            <a:br>
              <a:rPr lang="en-IN" sz="1800" b="1" dirty="0"/>
            </a:br>
            <a:r>
              <a:rPr lang="en-IN" sz="2400" b="1" dirty="0">
                <a:latin typeface="Times New Roman" panose="02020603050405020304" pitchFamily="18" charset="0"/>
                <a:cs typeface="Times New Roman" panose="02020603050405020304" pitchFamily="18" charset="0"/>
              </a:rPr>
              <a:t>Trustworthy Computer Vision Integrity Assurance for Data, Models and Inference Outputs in Multi-Contributor Pipelines</a:t>
            </a:r>
            <a:br>
              <a:rPr lang="en-IN" sz="2400" b="1" dirty="0">
                <a:latin typeface="Times New Roman" panose="02020603050405020304" pitchFamily="18" charset="0"/>
                <a:cs typeface="Times New Roman" panose="02020603050405020304" pitchFamily="18" charset="0"/>
              </a:rPr>
            </a:br>
            <a:br>
              <a:rPr lang="en-IN" sz="18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CV-INTEGRITY AI is an intelligent computer vision model trust and dataset quality evaluation platform. It automatically evaluates how dataset quality degradation affects models reliability, robustness and trustworthiness.</a:t>
            </a:r>
            <a:br>
              <a:rPr lang="en-IN"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“Building Trustworthy Computer Vision for a Self-Reliant Bharat</a:t>
            </a:r>
            <a:r>
              <a:rPr lang="en-IN" sz="1800" b="1" dirty="0"/>
              <a:t>”</a:t>
            </a:r>
            <a:br>
              <a:rPr lang="en-IN" sz="2800" b="1" dirty="0"/>
            </a:br>
            <a:endParaRPr lang="en-US" sz="2800" b="1" dirty="0">
              <a:latin typeface="Times New Roman" panose="02020603050405020304" pitchFamily="18" charset="0"/>
              <a:ea typeface="ＭＳ Ｐゴシック" pitchFamily="1" charset="-128"/>
              <a:cs typeface="Times New Roman" panose="02020603050405020304" pitchFamily="18" charset="0"/>
            </a:endParaRPr>
          </a:p>
        </p:txBody>
      </p:sp>
      <p:sp>
        <p:nvSpPr>
          <p:cNvPr id="15362" name="TextBox 8"/>
          <p:cNvSpPr txBox="1">
            <a:spLocks noChangeArrowheads="1"/>
          </p:cNvSpPr>
          <p:nvPr/>
        </p:nvSpPr>
        <p:spPr bwMode="auto">
          <a:xfrm>
            <a:off x="0" y="2380187"/>
            <a:ext cx="7086600" cy="3693319"/>
          </a:xfrm>
          <a:prstGeom prst="rect">
            <a:avLst/>
          </a:prstGeom>
          <a:noFill/>
          <a:ln w="9525">
            <a:noFill/>
            <a:miter lim="800000"/>
            <a:headEnd/>
            <a:tailEnd/>
          </a:ln>
        </p:spPr>
        <p:txBody>
          <a:bodyPr wrap="square">
            <a:spAutoFit/>
          </a:bodyPr>
          <a:lstStyle/>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trains YOLOv8 models on GOOD, BAD, and WORST quality datasets to measure performance degradation.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Uncovers hidden data flaws (blur, wrong labels, duplicates) that silently degrade model accuracy.</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Prevents unreliable CV models from being deployed in critical domains like healthcare, autonomous vehicles, manufacturing, and security.</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prioritizes dataset quality over just model architecture tuning.</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weighted combination of dataset quality, performance, robustness, and stability.</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works with YOLO and can be extended to other CV models; supports custom datasets.</a:t>
            </a:r>
          </a:p>
          <a:p>
            <a:pPr lvl="0"/>
            <a:endParaRPr lang="en-IN" dirty="0"/>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250" b="1" dirty="0" err="1"/>
              <a:t>Whocodes</a:t>
            </a:r>
            <a:endParaRPr lang="en-IN" sz="1250" b="1"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2" name="Picture 11">
            <a:extLst>
              <a:ext uri="{FF2B5EF4-FFF2-40B4-BE49-F238E27FC236}">
                <a16:creationId xmlns:a16="http://schemas.microsoft.com/office/drawing/2014/main" id="{4CFDDF26-1115-11A8-B01B-2C6998CB71BF}"/>
              </a:ext>
            </a:extLst>
          </p:cNvPr>
          <p:cNvPicPr>
            <a:picLocks noChangeAspect="1"/>
          </p:cNvPicPr>
          <p:nvPr/>
        </p:nvPicPr>
        <p:blipFill>
          <a:blip r:embed="rId4"/>
          <a:stretch>
            <a:fillRect/>
          </a:stretch>
        </p:blipFill>
        <p:spPr>
          <a:xfrm>
            <a:off x="7281332" y="2380187"/>
            <a:ext cx="4748604" cy="383805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000" b="1" dirty="0">
                <a:latin typeface="Times New Roman" panose="02020603050405020304" pitchFamily="18" charset="0"/>
                <a:ea typeface="ＭＳ Ｐゴシック" pitchFamily="1" charset="-128"/>
                <a:cs typeface="Times New Roman" panose="02020603050405020304" pitchFamily="18" charset="0"/>
              </a:rPr>
              <a:t>TECHNICAL APPROACH</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IN" sz="1800" b="1" dirty="0">
                <a:solidFill>
                  <a:schemeClr val="accent6"/>
                </a:solidFill>
                <a:latin typeface="Times New Roman" panose="02020603050405020304" pitchFamily="18" charset="0"/>
                <a:ea typeface="ＭＳ Ｐゴシック" pitchFamily="1" charset="-128"/>
                <a:cs typeface="Times New Roman" panose="02020603050405020304" pitchFamily="18" charset="0"/>
              </a:rPr>
              <a:t>Proposed Solution</a:t>
            </a:r>
            <a:r>
              <a:rPr lang="en-IN" sz="1800" b="1" dirty="0">
                <a:solidFill>
                  <a:schemeClr val="accent6"/>
                </a:solidFill>
              </a:rPr>
              <a:t>: Trust + Atmanirbhar Bharat + reliability</a:t>
            </a:r>
            <a:endParaRPr lang="en-US" sz="1800" b="1" dirty="0">
              <a:solidFill>
                <a:schemeClr val="accent6"/>
              </a:solidFill>
              <a:latin typeface="Times New Roman" panose="02020603050405020304" pitchFamily="18" charset="0"/>
              <a:ea typeface="ＭＳ Ｐゴシック" pitchFamily="1" charset="-128"/>
              <a:cs typeface="Times New Roman" panose="02020603050405020304" pitchFamily="18" charset="0"/>
            </a:endParaRPr>
          </a:p>
        </p:txBody>
      </p:sp>
      <p:sp>
        <p:nvSpPr>
          <p:cNvPr id="17410" name="TextBox 8"/>
          <p:cNvSpPr txBox="1">
            <a:spLocks noChangeArrowheads="1"/>
          </p:cNvSpPr>
          <p:nvPr/>
        </p:nvSpPr>
        <p:spPr bwMode="auto">
          <a:xfrm>
            <a:off x="1024467" y="1129269"/>
            <a:ext cx="9385300" cy="523220"/>
          </a:xfrm>
          <a:prstGeom prst="rect">
            <a:avLst/>
          </a:prstGeom>
          <a:noFill/>
          <a:ln w="9525">
            <a:noFill/>
            <a:miter lim="800000"/>
            <a:headEnd/>
            <a:tailEnd/>
          </a:ln>
        </p:spPr>
        <p:txBody>
          <a:bodyPr wrap="square">
            <a:spAutoFit/>
          </a:bodyPr>
          <a:lstStyle/>
          <a:p>
            <a:pPr algn="just"/>
            <a:endParaRPr lang="en-US" sz="2800" dirty="0">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162064" y="102310"/>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250" b="1" dirty="0" err="1"/>
              <a:t>Whocodes</a:t>
            </a:r>
            <a:endParaRPr lang="en-IN" sz="1250" b="1"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62466"/>
            <a:ext cx="2249850" cy="1062337"/>
          </a:xfrm>
          <a:prstGeom prst="rect">
            <a:avLst/>
          </a:prstGeom>
        </p:spPr>
      </p:pic>
      <p:pic>
        <p:nvPicPr>
          <p:cNvPr id="5" name="Picture 4">
            <a:extLst>
              <a:ext uri="{FF2B5EF4-FFF2-40B4-BE49-F238E27FC236}">
                <a16:creationId xmlns:a16="http://schemas.microsoft.com/office/drawing/2014/main" id="{83A5FC11-C92E-6D37-7F47-58790F3E9877}"/>
              </a:ext>
            </a:extLst>
          </p:cNvPr>
          <p:cNvPicPr>
            <a:picLocks noChangeAspect="1"/>
          </p:cNvPicPr>
          <p:nvPr/>
        </p:nvPicPr>
        <p:blipFill>
          <a:blip r:embed="rId4"/>
          <a:stretch>
            <a:fillRect/>
          </a:stretch>
        </p:blipFill>
        <p:spPr>
          <a:xfrm>
            <a:off x="25401" y="1084980"/>
            <a:ext cx="12192000" cy="52951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642532" y="-47625"/>
            <a:ext cx="8137553"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FEASIBILITY AND VIABILITY</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“Prototype already demonstrates feasibility; next steps focus on scaling and domain adaptation.”</a:t>
            </a:r>
            <a:endParaRPr lang="en-US" sz="18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120208"/>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250" b="1" dirty="0" err="1"/>
              <a:t>Whocodes</a:t>
            </a:r>
            <a:endParaRPr lang="en-IN" sz="1250" b="1"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5" name="Picture 4">
            <a:extLst>
              <a:ext uri="{FF2B5EF4-FFF2-40B4-BE49-F238E27FC236}">
                <a16:creationId xmlns:a16="http://schemas.microsoft.com/office/drawing/2014/main" id="{16834AFC-7B00-CBF5-E768-6500F8DA88A1}"/>
              </a:ext>
            </a:extLst>
          </p:cNvPr>
          <p:cNvPicPr>
            <a:picLocks noChangeAspect="1"/>
          </p:cNvPicPr>
          <p:nvPr/>
        </p:nvPicPr>
        <p:blipFill>
          <a:blip r:embed="rId4"/>
          <a:stretch>
            <a:fillRect/>
          </a:stretch>
        </p:blipFill>
        <p:spPr>
          <a:xfrm>
            <a:off x="101601" y="1112961"/>
            <a:ext cx="12090398" cy="524605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162064" y="120208"/>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250" b="1" dirty="0" err="1"/>
              <a:t>Whocodes</a:t>
            </a:r>
            <a:endParaRPr lang="en-IN" sz="1250" b="1"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5" name="Picture 4">
            <a:extLst>
              <a:ext uri="{FF2B5EF4-FFF2-40B4-BE49-F238E27FC236}">
                <a16:creationId xmlns:a16="http://schemas.microsoft.com/office/drawing/2014/main" id="{22378F86-EA53-9364-7E3A-45D015A65922}"/>
              </a:ext>
            </a:extLst>
          </p:cNvPr>
          <p:cNvPicPr>
            <a:picLocks noChangeAspect="1"/>
          </p:cNvPicPr>
          <p:nvPr/>
        </p:nvPicPr>
        <p:blipFill>
          <a:blip r:embed="rId4"/>
          <a:stretch>
            <a:fillRect/>
          </a:stretch>
        </p:blipFill>
        <p:spPr>
          <a:xfrm>
            <a:off x="0" y="1112962"/>
            <a:ext cx="12191999" cy="5273337"/>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13536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250" b="1" dirty="0" err="1"/>
              <a:t>Whocodes</a:t>
            </a:r>
            <a:endParaRPr lang="en-IN" sz="1250" b="1"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BEF374DB-F67C-8757-9BA3-653118FFA768}"/>
              </a:ext>
            </a:extLst>
          </p:cNvPr>
          <p:cNvPicPr>
            <a:picLocks noChangeAspect="1"/>
          </p:cNvPicPr>
          <p:nvPr/>
        </p:nvPicPr>
        <p:blipFill>
          <a:blip r:embed="rId4"/>
          <a:stretch>
            <a:fillRect/>
          </a:stretch>
        </p:blipFill>
        <p:spPr>
          <a:xfrm>
            <a:off x="0" y="1144500"/>
            <a:ext cx="12191999" cy="5174467"/>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7946</TotalTime>
  <Words>256</Words>
  <Application>Microsoft Office PowerPoint</Application>
  <PresentationFormat>Widescreen</PresentationFormat>
  <Paragraphs>38</Paragraphs>
  <Slides>6</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ＭＳ Ｐゴシック</vt:lpstr>
      <vt:lpstr>Algerian</vt:lpstr>
      <vt:lpstr>Arial</vt:lpstr>
      <vt:lpstr>Calibri</vt:lpstr>
      <vt:lpstr>Garamond</vt:lpstr>
      <vt:lpstr>Times New Roman</vt:lpstr>
      <vt:lpstr>TradeGothic</vt:lpstr>
      <vt:lpstr>Office Theme</vt:lpstr>
      <vt:lpstr>SMART INDIA HACKATHON 2026</vt:lpstr>
      <vt:lpstr> Trustworthy Computer Vision Integrity Assurance for Data, Models and Inference Outputs in Multi-Contributor Pipelines  CV-INTEGRITY AI is an intelligent computer vision model trust and dataset quality evaluation platform. It automatically evaluates how dataset quality degradation affects models reliability, robustness and trustworthiness.  “Building Trustworthy Computer Vision for a Self-Reliant Bharat” </vt:lpstr>
      <vt:lpstr>TECHNICAL APPROACH Proposed Solution: Trust + Atmanirbhar Bharat + reliability</vt:lpstr>
      <vt:lpstr>FEASIBILITY AND VIABILITY “Prototype already demonstrates feasibility; next steps focus on scaling and domain adaptation.”</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Saurabh Pati Tripathi</cp:lastModifiedBy>
  <cp:revision>149</cp:revision>
  <dcterms:created xsi:type="dcterms:W3CDTF">2013-12-12T18:46:50Z</dcterms:created>
  <dcterms:modified xsi:type="dcterms:W3CDTF">2026-09-10T18:29:55Z</dcterms:modified>
  <cp:category/>
</cp:coreProperties>
</file>